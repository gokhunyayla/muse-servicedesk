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140d182-0bbd-d3b4-de7f-a07528dd7b26}">
          <p14:sldIdLst>
            <p14:sldId id="256"/>
            <p14:sldId id="257"/>
            <p14:sldId id="258"/>
            <p14:sldId id="259"/>
          </p14:sldIdLst>
        </p14:section>
        <p14:section name="Keeps watch on its own" id="{3650207e-94fe-d5b4-421b-49185fd80636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Supports whoever writes in" id="{2803c92d-0f3f-aed8-1427-d2df24584c85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eople, learning, console" id="{d972c350-828b-ad13-a1ab-ec546860d7ce}">
          <p14:sldIdLst>
            <p14:sldId id="275"/>
            <p14:sldId id="276"/>
            <p14:sldId id="277"/>
            <p14:sldId id="278"/>
            <p14:sldId id="279"/>
          </p14:sldIdLst>
        </p14:section>
        <p14:section name="Try it" id="{a98d6997-2dc9-f99e-31ce-6a349b4875e4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7: Vulnerability patching. PHP 8.3.7 → 8.3.36 on LT-101 for CVE-2024-4577 (ransomware, CISA KEV): detected, patched, verified in 27 seconds. Ticket #97.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13: Proactive maintenance. Agent 1.6.2 on the Azure VM LT-101; proactive tickets for disk, patch age and events (#60, #61, #68, #102).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3: Blue screen. #107: one minute after a live blue screen the employee had the diagnosis (myfault.sys) and the fix. #106: L1 → L4, loaner and shipping.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17: Malware. EICAR test file on LT-101 (#98): quarantined, signatures refreshed, scan run, admins notified.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16: Camera compliance. #109 (today): sticky note located at x=1150–1323, y=401–562; SOP L1/009 cited; Entra sessions revoked; follow-up in 2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1: VPN not connecting. #108 (today): VPN reset on LT-101 from the support page, internal address answering, employee asked to retry.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2: Password reset by voice note. #111 (today) opened from a voice note; #62: identity, code, reset through Graph, closed on the employee's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4: Licence request. Tenant SKUs read and assigned through Graph; approvals arrive from the manager's own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11: Software with manager approval. Approval request and decision over WhatsApp; the agents cannot skip the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12: Video / screen recording. Blue-screen photos and clips handled at intake; attachments on the support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15: Multilingual. Turkish and English tickets side by side on the live desk; no language is hard-wired.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10: Mass outage. Problem threshold and window live in Settings → Supervisor; merges are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18: Phishing. #99: "Invoice overdue" lure found in three mailboxes and removed through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8: Onboarding from a CV. Noah Williams, Sales, start 2 Nov: tickets #70–#89 with the manager's answers and the real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9: Offboarding. #90–#91: offboarding of the same employee, scheduled and executed through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14: Rating and learning. A lesson that used tools above its level was rejected with the reason recorded; a "disk nearly full" SOP draft awaits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6: Desk console. cloudrium.com: 48 tickets, 431 model calls accounted, every setting changed from the console (keys encrypted in its vault).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DD3DE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521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9FB4E8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Muse ServiceDesk · github.com/gokhunyayla/muse-servicedesk · Meta Global AI Developer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Muse ServiceDesk · github.com/gokhunyayla/muse-servicedesk · Meta Global AI Developer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731520" y="11887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3" name="log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11887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ServiceDesk</a:t>
            </a:r>
            <a:endParaRPr lang="en-US" sz="28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The 17 cases — what is real on the live desk</a:t>
            </a:r>
            <a:endParaRPr lang="en-US" sz="44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DD3DE"/>
                </a:solidFill>
              </a:rPr>
              <a:t>An unmanned IT service desk on real systems: Microsoft 365, Entra ID, Windows on Azure, WhatsApp and e-mail.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DD3DE"/>
                </a:solidFill>
              </a:rPr>
              <a:t>Every case below ran end to end on the live installation during the hackathon week.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Gökhun Yayla · Indie Developer track · Build for Your World · youtu.be/rMqozO4E0ng · cloudrium.com/support-agent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 works in two ways</a:t>
            </a:r>
            <a:endParaRPr lang="en-US" sz="3000" dirty="0"/>
          </a:p>
        </p:txBody>
      </p:sp>
      <p:sp>
        <p:nvSpPr>
          <p:cNvPr id="3" name="card Keeps watch on its own"/>
          <p:cNvSpPr/>
          <p:nvPr/>
        </p:nvSpPr>
        <p:spPr>
          <a:xfrm>
            <a:off x="548640" y="1325880"/>
            <a:ext cx="5440680" cy="2148840"/>
          </a:xfrm>
          <a:prstGeom prst="roundRect">
            <a:avLst>
              <a:gd name="adj" fmla="val 638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5" name="FiEy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554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watch on its own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 endpoint agent on every computer reports its state every minute and runs only allow-listed jobs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Every day: CISA's and NVD's exploited vulnerabilities against the installed versions; if an app is affected the desk patches, verifies and reports</a:t>
            </a:r>
            <a:endParaRPr lang="en-US" sz="1300" dirty="0"/>
          </a:p>
        </p:txBody>
      </p:sp>
      <p:sp>
        <p:nvSpPr>
          <p:cNvPr id="8" name="card Supports whoever writes in"/>
          <p:cNvSpPr/>
          <p:nvPr/>
        </p:nvSpPr>
        <p:spPr>
          <a:xfrm>
            <a:off x="6217920" y="1325880"/>
            <a:ext cx="5440680" cy="2148840"/>
          </a:xfrm>
          <a:prstGeom prst="roundRect">
            <a:avLst>
              <a:gd name="adj" fmla="val 638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92240" y="1554480"/>
            <a:ext cx="640080" cy="640080"/>
          </a:xfrm>
          <a:prstGeom prst="ellipse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pic>
        <p:nvPicPr>
          <p:cNvPr id="10" name="FiMessageCirc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17145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554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whoever writes in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2860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Support page, WhatsApp (text, voice, photo, video) and e-mail, all on the same tickets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Four levels of AI agents with no orchestrator: the agents are each other's tools, each with its own authority; a human steps in only when really needed</a:t>
            </a:r>
            <a:endParaRPr lang="en-US" sz="1300" dirty="0"/>
          </a:p>
        </p:txBody>
      </p:sp>
      <p:sp>
        <p:nvSpPr>
          <p:cNvPr id="13" name="tier L1"/>
          <p:cNvSpPr/>
          <p:nvPr/>
        </p:nvSpPr>
        <p:spPr>
          <a:xfrm>
            <a:off x="548640" y="3749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77240" y="3886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talks to the employee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identity, codes, standard fixes, handoffs</a:t>
            </a:r>
            <a:endParaRPr lang="en-US" sz="1100" dirty="0"/>
          </a:p>
        </p:txBody>
      </p:sp>
      <p:sp>
        <p:nvSpPr>
          <p:cNvPr id="17" name="tier L2"/>
          <p:cNvSpPr/>
          <p:nvPr/>
        </p:nvSpPr>
        <p:spPr>
          <a:xfrm>
            <a:off x="3383280" y="3749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611880" y="3886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2400" dirty="0"/>
          </a:p>
        </p:txBody>
      </p:sp>
      <p:sp>
        <p:nvSpPr>
          <p:cNvPr id="19" name="Text 15"/>
          <p:cNvSpPr txBox="1"/>
          <p:nvPr/>
        </p:nvSpPr>
        <p:spPr>
          <a:xfrm>
            <a:off x="361188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devices &amp; network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61188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real scripts on the machine, crashes, malware, VPN</a:t>
            </a:r>
            <a:endParaRPr lang="en-US" sz="1100" dirty="0"/>
          </a:p>
        </p:txBody>
      </p:sp>
      <p:sp>
        <p:nvSpPr>
          <p:cNvPr id="21" name="tier L3"/>
          <p:cNvSpPr/>
          <p:nvPr/>
        </p:nvSpPr>
        <p:spPr>
          <a:xfrm>
            <a:off x="6217920" y="3749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446520" y="3886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servers &amp; security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patches, directory, phishing, permissions</a:t>
            </a:r>
            <a:endParaRPr lang="en-US" sz="1100" dirty="0"/>
          </a:p>
        </p:txBody>
      </p:sp>
      <p:sp>
        <p:nvSpPr>
          <p:cNvPr id="25" name="tier L4"/>
          <p:cNvSpPr/>
          <p:nvPr/>
        </p:nvSpPr>
        <p:spPr>
          <a:xfrm>
            <a:off x="9052560" y="3749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9281160" y="3886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2400" dirty="0"/>
          </a:p>
        </p:txBody>
      </p:sp>
      <p:sp>
        <p:nvSpPr>
          <p:cNvPr id="27" name="Text 23"/>
          <p:cNvSpPr txBox="1"/>
          <p:nvPr/>
        </p:nvSpPr>
        <p:spPr>
          <a:xfrm>
            <a:off x="928116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vendors &amp; logistics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928116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warranty, service cases, loaners, shipping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</a:rPr>
              <a:t>Hard rules at every step: only the procedure in the knowledge base · strict policy even if the employee insists · every decision in the ticket with its citation · a one-time code before any account is touched · nothing closes until the employee says "solved".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Verifiable by design: the model chooses, the code executes, the controls refuse</a:t>
            </a:r>
            <a:endParaRPr lang="en-US" sz="3000" dirty="0"/>
          </a:p>
        </p:txBody>
      </p:sp>
      <p:sp>
        <p:nvSpPr>
          <p:cNvPr id="3" name="card The model chooses every tool call"/>
          <p:cNvSpPr/>
          <p:nvPr/>
        </p:nvSpPr>
        <p:spPr>
          <a:xfrm>
            <a:off x="548640" y="137160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5" name="FiCpu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model chooses every tool call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code runs it and keeps the record: every call and result on the ticket trail</a:t>
            </a:r>
            <a:endParaRPr lang="en-US" sz="1200" dirty="0"/>
          </a:p>
        </p:txBody>
      </p:sp>
      <p:sp>
        <p:nvSpPr>
          <p:cNvPr id="8" name="card Authority is code, not prompt"/>
          <p:cNvSpPr/>
          <p:nvPr/>
        </p:nvSpPr>
        <p:spPr>
          <a:xfrm>
            <a:off x="4297680" y="137160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572000" y="164592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0" name="Fi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7830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Authority is code, not prompt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each tool names the tiers that may run it; an agent only sees its own</a:t>
            </a:r>
            <a:endParaRPr lang="en-US" sz="1200" dirty="0"/>
          </a:p>
        </p:txBody>
      </p:sp>
      <p:sp>
        <p:nvSpPr>
          <p:cNvPr id="13" name="card Checks inside the tools"/>
          <p:cNvSpPr/>
          <p:nvPr/>
        </p:nvSpPr>
        <p:spPr>
          <a:xfrm>
            <a:off x="8046720" y="137160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21040" y="164592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5" name="FiShiel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830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Checks inside the tools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identity before a reset, consent before intrusive scripts, an allow-list of scripts; refusal with the reason</a:t>
            </a:r>
            <a:endParaRPr lang="en-US" sz="1200" dirty="0"/>
          </a:p>
        </p:txBody>
      </p:sp>
      <p:sp>
        <p:nvSpPr>
          <p:cNvPr id="18" name="card Escalation pauses the run"/>
          <p:cNvSpPr/>
          <p:nvPr/>
        </p:nvSpPr>
        <p:spPr>
          <a:xfrm>
            <a:off x="548640" y="374904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822960" y="402336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20" name="FiPauseCirc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1605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Escalation pauses the run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manager approvals over WhatsApp, human escalation, device jobs that report back</a:t>
            </a:r>
            <a:endParaRPr lang="en-US" sz="1200" dirty="0"/>
          </a:p>
        </p:txBody>
      </p:sp>
      <p:sp>
        <p:nvSpPr>
          <p:cNvPr id="23" name="card Nothing without a source"/>
          <p:cNvSpPr/>
          <p:nvPr/>
        </p:nvSpPr>
        <p:spPr>
          <a:xfrm>
            <a:off x="4297680" y="374904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4" name="icon circle"/>
          <p:cNvSpPr/>
          <p:nvPr/>
        </p:nvSpPr>
        <p:spPr>
          <a:xfrm>
            <a:off x="4572000" y="402336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25" name="FiBookOpe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1605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Nothing without a source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SOPs cited as [SOP:key], policies as [REF:doc]; no passage, no rule</a:t>
            </a:r>
            <a:endParaRPr lang="en-US" sz="1200" dirty="0"/>
          </a:p>
        </p:txBody>
      </p:sp>
      <p:sp>
        <p:nvSpPr>
          <p:cNvPr id="28" name="card Every action reversible"/>
          <p:cNvSpPr/>
          <p:nvPr/>
        </p:nvSpPr>
        <p:spPr>
          <a:xfrm>
            <a:off x="8046720" y="374904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9" name="icon circle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30" name="FiRotateCc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416052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 action reversible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433"/>
                </a:solidFill>
              </a:rPr>
              <a:t>patches keep a backup and roll back; removed mail returns; learning can never rewrite the core SOPs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is real, what is simulated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real cases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tests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week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all code written during the event (first commit 27 Oct)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Meta models</a:t>
            </a:r>
            <a:endParaRPr lang="en-US" sz="1300" dirty="0"/>
          </a:p>
        </p:txBody>
      </p:sp>
      <p:sp>
        <p:nvSpPr>
          <p:cNvPr id="11" name="card Real on the live desk"/>
          <p:cNvSpPr/>
          <p:nvPr/>
        </p:nvSpPr>
        <p:spPr>
          <a:xfrm>
            <a:off x="548640" y="2743200"/>
            <a:ext cx="5440680" cy="3474720"/>
          </a:xfrm>
          <a:prstGeom prst="roundRect">
            <a:avLst>
              <a:gd name="adj" fmla="val 394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926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463"/>
                </a:solidFill>
              </a:rPr>
              <a:t>Real on the live desk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Console, L1–L4 agents, Supervisor, knowledge base with safety-checked lessons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Endpoint agent on an Azure VM (LT-101): heartbeat, allow-listed scripts, crash and Defender events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Entra ID through Graph: lookup, password reset, session revocation, accounts, groups, licences, mailboxes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WhatsApp Cloud API, support page with one-time codes, e-mail intake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Daily vulnerability watch (CISA KEV + NVD) with real patching, backup and rollback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Phishing clean-up across every company mailbox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Self-enrolment with an invitation code (jury accounts land in a sandbox group and expire)</a:t>
            </a:r>
            <a:endParaRPr lang="en-US" sz="1250" dirty="0"/>
          </a:p>
        </p:txBody>
      </p:sp>
      <p:sp>
        <p:nvSpPr>
          <p:cNvPr id="14" name="card Simulated"/>
          <p:cNvSpPr/>
          <p:nvPr/>
        </p:nvSpPr>
        <p:spPr>
          <a:xfrm>
            <a:off x="6217920" y="2743200"/>
            <a:ext cx="5440680" cy="3474720"/>
          </a:xfrm>
          <a:prstGeom prst="roundRect">
            <a:avLst>
              <a:gd name="adj" fmla="val 394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020"/>
                </a:solidFill>
              </a:rPr>
              <a:t>Simulated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3832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Vendor and courier systems: warranty cases, loaner inventory, shipments (L4 tools return realistic records)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camera feed: frames are posted to the desk's camera endpoint; there is no RTSP camera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Everything else in this deck ran end to end on the live installation; ticket numbers refer to the live console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Keeps watch on its own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9FB4E8"/>
                </a:solidFill>
              </a:rPr>
              <a:t>5 cases · all real on the live desk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Vulnerability patching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Every day: CISA KEV and NVD compared with the software every agent reported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Affected app patched from the vendor's own feed: checksum verified, backup first, version read back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manager is told "I noticed it and I fixed it"; one ticket per app; "geri al" on the ticket rolls back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PHP 8.3.7 → 8.3.36 on LT-101 for CVE-2024-4577 (ransomware, CISA KEV): detected, patched, verified in 27 seconds. Ticket #97.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vulnwatch"/>
          <p:cNvSpPr txBox="1"/>
          <p:nvPr/>
        </p:nvSpPr>
        <p:spPr>
          <a:xfrm>
            <a:off x="1755648" y="5440680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vulnwatch</a:t>
            </a:r>
            <a:endParaRPr lang="en-US" sz="1100" dirty="0"/>
          </a:p>
        </p:txBody>
      </p:sp>
      <p:sp>
        <p:nvSpPr>
          <p:cNvPr id="13" name="chip app-update"/>
          <p:cNvSpPr txBox="1"/>
          <p:nvPr/>
        </p:nvSpPr>
        <p:spPr>
          <a:xfrm>
            <a:off x="2884932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app-update</a:t>
            </a:r>
            <a:endParaRPr lang="en-US" sz="1100" dirty="0"/>
          </a:p>
        </p:txBody>
      </p:sp>
      <p:sp>
        <p:nvSpPr>
          <p:cNvPr id="14" name="chip rollback_patch"/>
          <p:cNvSpPr txBox="1"/>
          <p:nvPr/>
        </p:nvSpPr>
        <p:spPr>
          <a:xfrm>
            <a:off x="4091940" y="54406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rollback_patch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1652954"/>
          </a:xfrm>
          <a:prstGeom prst="roundRect">
            <a:avLst>
              <a:gd name="adj" fmla="val 6638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ticket #97 · live console" descr="ticket #97 · live cons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150665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294225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ticket #97 · live console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Proactive maintenance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endpoint agent reports every minute: disk, patch age, stopped services, critical events, VPN, Defender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Thresholds open tickets before anyone writes in; the ticket already carries the evidence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Owner informed, fix applied through allow-listed scripts, re-check scheduled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Agent 1.6.2 on the Azure VM LT-101; proactive tickets for disk, patch age and events (#60, #61, #68, #102).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heartbeat"/>
          <p:cNvSpPr txBox="1"/>
          <p:nvPr/>
        </p:nvSpPr>
        <p:spPr>
          <a:xfrm>
            <a:off x="1755648" y="5440680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heartbeat</a:t>
            </a:r>
            <a:endParaRPr lang="en-US" sz="1100" dirty="0"/>
          </a:p>
        </p:txBody>
      </p:sp>
      <p:sp>
        <p:nvSpPr>
          <p:cNvPr id="13" name="chip disk-report"/>
          <p:cNvSpPr txBox="1"/>
          <p:nvPr/>
        </p:nvSpPr>
        <p:spPr>
          <a:xfrm>
            <a:off x="2884932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disk-report</a:t>
            </a:r>
            <a:endParaRPr lang="en-US" sz="1100" dirty="0"/>
          </a:p>
        </p:txBody>
      </p:sp>
      <p:sp>
        <p:nvSpPr>
          <p:cNvPr id="14" name="chip patch-status"/>
          <p:cNvSpPr txBox="1"/>
          <p:nvPr/>
        </p:nvSpPr>
        <p:spPr>
          <a:xfrm>
            <a:off x="4169664" y="544068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patch-status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2318004"/>
          </a:xfrm>
          <a:prstGeom prst="roundRect">
            <a:avLst>
              <a:gd name="adj" fmla="val 4734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Settings → Connectors · endpoint agents" descr="Settings → Connectors · endpoint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21717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36073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Settings → Connectors · endpoint agents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Blue screen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desk notices the crash itself (WER event in the heartbeat): stop code, recent drivers, disk health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Repairs the system (DISM + SFC in the background) or disables the offending driver, with the employee's consent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Recurring crash after repair → hardware path: L1 hands off to L4, warranty, service case, loaner, shipment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#107: one minute after a live blue screen the employee had the diagnosis (myfault.sys) and the fix. #106: L1 → L4, loaner and shipping.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crash-report"/>
          <p:cNvSpPr txBox="1"/>
          <p:nvPr/>
        </p:nvSpPr>
        <p:spPr>
          <a:xfrm>
            <a:off x="1755648" y="544068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crash-report</a:t>
            </a:r>
            <a:endParaRPr lang="en-US" sz="1100" dirty="0"/>
          </a:p>
        </p:txBody>
      </p:sp>
      <p:sp>
        <p:nvSpPr>
          <p:cNvPr id="13" name="chip system-repair"/>
          <p:cNvSpPr txBox="1"/>
          <p:nvPr/>
        </p:nvSpPr>
        <p:spPr>
          <a:xfrm>
            <a:off x="3118104" y="544068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system-repair</a:t>
            </a:r>
            <a:endParaRPr lang="en-US" sz="1100" dirty="0"/>
          </a:p>
        </p:txBody>
      </p:sp>
      <p:sp>
        <p:nvSpPr>
          <p:cNvPr id="14" name="chip driver-rollback"/>
          <p:cNvSpPr txBox="1"/>
          <p:nvPr/>
        </p:nvSpPr>
        <p:spPr>
          <a:xfrm>
            <a:off x="4558284" y="544068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driver-rollback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4528390"/>
          </a:xfrm>
          <a:prstGeom prst="roundRect">
            <a:avLst>
              <a:gd name="adj" fmla="val 2423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ticket #107 · live blue screen" descr="ticket #107 · live blue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438208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581769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ticket #107 · live blue screen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Malware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Microsoft Defender detections arrive with the heartbeat, within minutes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Threat removed, signatures updated, quick scan run on the machine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Admins told; the ticket keeps the detection record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EICAR test file on LT-101 (#98): quarantined, signatures refreshed, scan run, admins notified. L3.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malwatch"/>
          <p:cNvSpPr txBox="1"/>
          <p:nvPr/>
        </p:nvSpPr>
        <p:spPr>
          <a:xfrm>
            <a:off x="1755648" y="544068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malwatch</a:t>
            </a:r>
            <a:endParaRPr lang="en-US" sz="1100" dirty="0"/>
          </a:p>
        </p:txBody>
      </p:sp>
      <p:sp>
        <p:nvSpPr>
          <p:cNvPr id="13" name="chip malware-clean"/>
          <p:cNvSpPr txBox="1"/>
          <p:nvPr/>
        </p:nvSpPr>
        <p:spPr>
          <a:xfrm>
            <a:off x="2807208" y="544068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malware-clean</a:t>
            </a:r>
            <a:endParaRPr lang="en-US" sz="1100" dirty="0"/>
          </a:p>
        </p:txBody>
      </p:sp>
      <p:sp>
        <p:nvSpPr>
          <p:cNvPr id="14" name="chip notify_admins"/>
          <p:cNvSpPr txBox="1"/>
          <p:nvPr/>
        </p:nvSpPr>
        <p:spPr>
          <a:xfrm>
            <a:off x="4247388" y="544068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notify_admins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8" name="FiAlertOctag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Malware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Keeps watch on its own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Camera compliance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 camera frame is checked for policy violations: a password on a sticky note, an unlocked screen, a visitor without a badge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Muse Spark decides what it sees, SAM 3.1 pins the object down in the frame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desk owner is notified, exposed credentials revoked, a re-check scheduled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#109 (today): sticky note located at x=1150–1323, y=401–562; SOP L1/009 cited; Entra sessions revoked; follow-up in 2 hours.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SAM 3.1"/>
          <p:cNvSpPr txBox="1"/>
          <p:nvPr/>
        </p:nvSpPr>
        <p:spPr>
          <a:xfrm>
            <a:off x="1755648" y="5440680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 3.1</a:t>
            </a:r>
            <a:endParaRPr lang="en-US" sz="1100" dirty="0"/>
          </a:p>
        </p:txBody>
      </p:sp>
      <p:sp>
        <p:nvSpPr>
          <p:cNvPr id="13" name="chip camera"/>
          <p:cNvSpPr txBox="1"/>
          <p:nvPr/>
        </p:nvSpPr>
        <p:spPr>
          <a:xfrm>
            <a:off x="2729484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camera</a:t>
            </a:r>
            <a:endParaRPr lang="en-US" sz="1100" dirty="0"/>
          </a:p>
        </p:txBody>
      </p:sp>
      <p:sp>
        <p:nvSpPr>
          <p:cNvPr id="14" name="chip revoke_sessions"/>
          <p:cNvSpPr txBox="1"/>
          <p:nvPr/>
        </p:nvSpPr>
        <p:spPr>
          <a:xfrm>
            <a:off x="3662172" y="544068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revoke_sessions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3025103"/>
          </a:xfrm>
          <a:prstGeom prst="roundRect">
            <a:avLst>
              <a:gd name="adj" fmla="val 3627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camera frame · SAM 3.1 box · ticket #109" descr="camera frame · SAM 3.1 box · ticket #10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2878799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4314407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camera frame · SAM 3.1 box · ticket #109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Supports whoever writes in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9FB4E8"/>
                </a:solidFill>
              </a:rPr>
              <a:t>8 cases · all real on the live desk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VPN not connecting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employee writes on any channel; L1 finds the knowledge-base procedure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agent reads the Windows/Tailscale VPN state on the machine, drops and redials the tunnel, tests an internal address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employee is asked to confirm; nothing closes until they say "solved"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#108 (today): VPN reset on LT-101 from the support page, internal address answering, employee asked to retry.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vpn_status"/>
          <p:cNvSpPr txBox="1"/>
          <p:nvPr/>
        </p:nvSpPr>
        <p:spPr>
          <a:xfrm>
            <a:off x="1755648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vpn_status</a:t>
            </a:r>
            <a:endParaRPr lang="en-US" sz="1100" dirty="0"/>
          </a:p>
        </p:txBody>
      </p:sp>
      <p:sp>
        <p:nvSpPr>
          <p:cNvPr id="13" name="chip vpn-reset"/>
          <p:cNvSpPr txBox="1"/>
          <p:nvPr/>
        </p:nvSpPr>
        <p:spPr>
          <a:xfrm>
            <a:off x="2962656" y="5440680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vpn-reset</a:t>
            </a:r>
            <a:endParaRPr lang="en-US" sz="1100" dirty="0"/>
          </a:p>
        </p:txBody>
      </p:sp>
      <p:sp>
        <p:nvSpPr>
          <p:cNvPr id="14" name="chip find_user"/>
          <p:cNvSpPr txBox="1"/>
          <p:nvPr/>
        </p:nvSpPr>
        <p:spPr>
          <a:xfrm>
            <a:off x="4091940" y="5440680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find_user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4429916"/>
          </a:xfrm>
          <a:prstGeom prst="roundRect">
            <a:avLst>
              <a:gd name="adj" fmla="val 2477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ticket #108 · support page request" descr="ticket #108 · support page requ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42836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57192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ticket #108 · support page request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Password reset by voice note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 WhatsApp voice note becomes text (spoken numbers handled) and opens the ticket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Identity bound to the sender: employee number + birth year, then a one-time code on the other channel; optionally a spoken phrase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Password reset in Entra ID; the temporary password goes to the person over chat, never by e-mail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#111 (today) opened from a voice note; #62: identity, code, reset through Graph, closed on the employee's request.</a:t>
            </a:r>
            <a:endParaRPr lang="en-US" sz="1300" dirty="0"/>
          </a:p>
        </p:txBody>
      </p:sp>
      <p:sp>
        <p:nvSpPr>
          <p:cNvPr id="11" name="chip Voice Transcribe"/>
          <p:cNvSpPr txBox="1"/>
          <p:nvPr/>
        </p:nvSpPr>
        <p:spPr>
          <a:xfrm>
            <a:off x="548640" y="5440680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Voice Transcribe</a:t>
            </a:r>
            <a:endParaRPr lang="en-US" sz="1100" dirty="0"/>
          </a:p>
        </p:txBody>
      </p:sp>
      <p:sp>
        <p:nvSpPr>
          <p:cNvPr id="12" name="chip Muse Spark"/>
          <p:cNvSpPr txBox="1"/>
          <p:nvPr/>
        </p:nvSpPr>
        <p:spPr>
          <a:xfrm>
            <a:off x="2221992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3" name="chip verify_identity"/>
          <p:cNvSpPr txBox="1"/>
          <p:nvPr/>
        </p:nvSpPr>
        <p:spPr>
          <a:xfrm>
            <a:off x="3429000" y="544068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verify_identity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5" name="frame"/>
          <p:cNvSpPr/>
          <p:nvPr/>
        </p:nvSpPr>
        <p:spPr>
          <a:xfrm>
            <a:off x="6565589" y="1252728"/>
            <a:ext cx="5156823" cy="4626864"/>
          </a:xfrm>
          <a:prstGeom prst="roundRect">
            <a:avLst>
              <a:gd name="adj" fmla="val 2372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ticket #111 · voice note transcribed" descr="ticket #111 · voice note transcrib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8741" y="1325880"/>
            <a:ext cx="5010519" cy="4480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583680" y="59161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ticket #111 · voice note transcribed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Licence request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employee asks for an application or a mailbox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Free SKUs are assigned at once in Entra; paid ones go to the manager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manager approves or rejects over WhatsApp (APPROVE n); the ticket records the decision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Tenant SKUs read and assigned through Graph; approvals arrive from the manager's own number.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assign_license"/>
          <p:cNvSpPr txBox="1"/>
          <p:nvPr/>
        </p:nvSpPr>
        <p:spPr>
          <a:xfrm>
            <a:off x="1755648" y="54406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assign_license</a:t>
            </a:r>
            <a:endParaRPr lang="en-US" sz="1100" dirty="0"/>
          </a:p>
        </p:txBody>
      </p:sp>
      <p:sp>
        <p:nvSpPr>
          <p:cNvPr id="13" name="chip request_approval"/>
          <p:cNvSpPr txBox="1"/>
          <p:nvPr/>
        </p:nvSpPr>
        <p:spPr>
          <a:xfrm>
            <a:off x="3273552" y="5440680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request_approval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5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7" name="FiKe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request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Software with manager approval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request is routed to the employee's manager from the directory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manager answers on their own channel; the run pauses until a person acts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Approved → installed or granted; rejected → the employee is told why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Approval request and decision over WhatsApp; the agents cannot skip the pause.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request_approval"/>
          <p:cNvSpPr txBox="1"/>
          <p:nvPr/>
        </p:nvSpPr>
        <p:spPr>
          <a:xfrm>
            <a:off x="1755648" y="5440680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request_approval</a:t>
            </a:r>
            <a:endParaRPr lang="en-US" sz="1100" dirty="0"/>
          </a:p>
        </p:txBody>
      </p:sp>
      <p:sp>
        <p:nvSpPr>
          <p:cNvPr id="13" name="chip get_employee"/>
          <p:cNvSpPr txBox="1"/>
          <p:nvPr/>
        </p:nvSpPr>
        <p:spPr>
          <a:xfrm>
            <a:off x="3429000" y="544068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get_employee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5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7" name="FiCheckSqua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with manager approval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 / screen recording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 short clip or a photo of a blue screen arrives on WhatsApp or the support page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Frames are sampled and read by Muse Spark vision; documents (CVs, PDFs) are read too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finding lands in the ticket like any text request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Blue-screen photos and clips handled at intake; attachments on the support page.</a:t>
            </a:r>
            <a:endParaRPr lang="en-US" sz="1300" dirty="0"/>
          </a:p>
        </p:txBody>
      </p:sp>
      <p:sp>
        <p:nvSpPr>
          <p:cNvPr id="11" name="chip Muse Spark vision"/>
          <p:cNvSpPr txBox="1"/>
          <p:nvPr/>
        </p:nvSpPr>
        <p:spPr>
          <a:xfrm>
            <a:off x="548640" y="5440680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 vision</a:t>
            </a:r>
            <a:endParaRPr lang="en-US" sz="1100" dirty="0"/>
          </a:p>
        </p:txBody>
      </p:sp>
      <p:sp>
        <p:nvSpPr>
          <p:cNvPr id="12" name="chip /video"/>
          <p:cNvSpPr txBox="1"/>
          <p:nvPr/>
        </p:nvSpPr>
        <p:spPr>
          <a:xfrm>
            <a:off x="2299716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/video</a:t>
            </a:r>
            <a:endParaRPr lang="en-US" sz="1100" dirty="0"/>
          </a:p>
        </p:txBody>
      </p:sp>
      <p:sp>
        <p:nvSpPr>
          <p:cNvPr id="13" name="chip attachments"/>
          <p:cNvSpPr txBox="1"/>
          <p:nvPr/>
        </p:nvSpPr>
        <p:spPr>
          <a:xfrm>
            <a:off x="3232404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attachments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5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7" name="FiVide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/ screen recording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Multilingual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employee's language is detected per message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agents answer in the ticket's language; procedures stay in one place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support page greets in the desk's default language, with the other one underneath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Turkish and English tickets side by side on the live desk; no language is hard-wired.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ticket_lang"/>
          <p:cNvSpPr txBox="1"/>
          <p:nvPr/>
        </p:nvSpPr>
        <p:spPr>
          <a:xfrm>
            <a:off x="1755648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ticket_lang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4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6" name="Fi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Mass outage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Several similar reports arrive within the problem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Merged into one incident at intake, or by the Supervisor on review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broadcast to everyone affected; the tickets close together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Problem threshold and window live in Settings → Supervisor; merges are audited.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Muse Wonder"/>
          <p:cNvSpPr txBox="1"/>
          <p:nvPr/>
        </p:nvSpPr>
        <p:spPr>
          <a:xfrm>
            <a:off x="1755648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Wonder</a:t>
            </a:r>
            <a:endParaRPr lang="en-US" sz="1100" dirty="0"/>
          </a:p>
        </p:txBody>
      </p:sp>
      <p:sp>
        <p:nvSpPr>
          <p:cNvPr id="13" name="chip merge"/>
          <p:cNvSpPr txBox="1"/>
          <p:nvPr/>
        </p:nvSpPr>
        <p:spPr>
          <a:xfrm>
            <a:off x="304038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merge</a:t>
            </a:r>
            <a:endParaRPr lang="en-US" sz="1100" dirty="0"/>
          </a:p>
        </p:txBody>
      </p:sp>
      <p:sp>
        <p:nvSpPr>
          <p:cNvPr id="14" name="chip broadcast"/>
          <p:cNvSpPr txBox="1"/>
          <p:nvPr/>
        </p:nvSpPr>
        <p:spPr>
          <a:xfrm>
            <a:off x="3973068" y="5440680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broadcast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8" name="FiLayer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outage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Phishing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An employee forwards a suspicious mail; the desk finds every copy in every company mailbox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Headers (SPF/DKIM/DMARC), look-alike domains and link targets analysed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Every copy moved to Deleted Items (recoverable), recipients warned, sender blocked, admins told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#99: "Invoice overdue" lure found in three mailboxes and removed through Graph.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Muse Wonder"/>
          <p:cNvSpPr txBox="1"/>
          <p:nvPr/>
        </p:nvSpPr>
        <p:spPr>
          <a:xfrm>
            <a:off x="1755648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Wonder</a:t>
            </a:r>
            <a:endParaRPr lang="en-US" sz="1100" dirty="0"/>
          </a:p>
        </p:txBody>
      </p:sp>
      <p:sp>
        <p:nvSpPr>
          <p:cNvPr id="13" name="chip inspect mailboxes"/>
          <p:cNvSpPr txBox="1"/>
          <p:nvPr/>
        </p:nvSpPr>
        <p:spPr>
          <a:xfrm>
            <a:off x="3040380" y="5440680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inspect mailboxes</a:t>
            </a:r>
            <a:endParaRPr lang="en-US" sz="1100" dirty="0"/>
          </a:p>
        </p:txBody>
      </p:sp>
      <p:sp>
        <p:nvSpPr>
          <p:cNvPr id="14" name="chip quarantine_email"/>
          <p:cNvSpPr txBox="1"/>
          <p:nvPr/>
        </p:nvSpPr>
        <p:spPr>
          <a:xfrm>
            <a:off x="4791456" y="5440680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quarantine_email</a:t>
            </a:r>
            <a:endParaRPr lang="en-US" sz="1100" dirty="0"/>
          </a:p>
        </p:txBody>
      </p:sp>
      <p:sp>
        <p:nvSpPr>
          <p:cNvPr id="15" name="chip block_sender"/>
          <p:cNvSpPr txBox="1"/>
          <p:nvPr/>
        </p:nvSpPr>
        <p:spPr>
          <a:xfrm>
            <a:off x="6464808" y="544068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block_sender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7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9" name="FiMai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Supports whoever writes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People, learning, console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9FB4E8"/>
                </a:solidFill>
              </a:rPr>
              <a:t>4 cases · all real on the live desk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Onboarding from a CV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HR sends a CV on any channel; the desk reads it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manager answers the open questions on their own channel (device, groups, licence)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Entra account, groups, licence, mailbox and welcome mail; the first password goes over chat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Noah Williams, Sales, start 2 Nov: tickets #70–#89 with the manager's answers and the real account.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start_onboarding"/>
          <p:cNvSpPr txBox="1"/>
          <p:nvPr/>
        </p:nvSpPr>
        <p:spPr>
          <a:xfrm>
            <a:off x="1755648" y="5440680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start_onboarding</a:t>
            </a:r>
            <a:endParaRPr lang="en-US" sz="1100" dirty="0"/>
          </a:p>
        </p:txBody>
      </p:sp>
      <p:sp>
        <p:nvSpPr>
          <p:cNvPr id="13" name="chip record_people_answers"/>
          <p:cNvSpPr txBox="1"/>
          <p:nvPr/>
        </p:nvSpPr>
        <p:spPr>
          <a:xfrm>
            <a:off x="3429000" y="5440680"/>
            <a:ext cx="1952244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record_people_answers</a:t>
            </a:r>
            <a:endParaRPr lang="en-US" sz="1100" dirty="0"/>
          </a:p>
        </p:txBody>
      </p:sp>
      <p:sp>
        <p:nvSpPr>
          <p:cNvPr id="14" name="chip create account"/>
          <p:cNvSpPr txBox="1"/>
          <p:nvPr/>
        </p:nvSpPr>
        <p:spPr>
          <a:xfrm>
            <a:off x="5490972" y="54406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create account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8" name="FiUserPlu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from a CV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People, learning, console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Offboarding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HR announces the leaver; the desk schedules the last day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Account disabled, sessions revoked, groups and licences removed, support-page access closed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Manager and HR told; everything reversible until the day comes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749808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#90–#91: offboarding of the same employee, scheduled and executed through Graph.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disable_user"/>
          <p:cNvSpPr txBox="1"/>
          <p:nvPr/>
        </p:nvSpPr>
        <p:spPr>
          <a:xfrm>
            <a:off x="1755648" y="544068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disable_user</a:t>
            </a:r>
            <a:endParaRPr lang="en-US" sz="1100" dirty="0"/>
          </a:p>
        </p:txBody>
      </p:sp>
      <p:sp>
        <p:nvSpPr>
          <p:cNvPr id="13" name="chip revoke_sessions"/>
          <p:cNvSpPr txBox="1"/>
          <p:nvPr/>
        </p:nvSpPr>
        <p:spPr>
          <a:xfrm>
            <a:off x="3118104" y="544068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revoke_sessions</a:t>
            </a:r>
            <a:endParaRPr lang="en-US" sz="1100" dirty="0"/>
          </a:p>
        </p:txBody>
      </p:sp>
      <p:sp>
        <p:nvSpPr>
          <p:cNvPr id="14" name="chip remove groups/licences"/>
          <p:cNvSpPr txBox="1"/>
          <p:nvPr/>
        </p:nvSpPr>
        <p:spPr>
          <a:xfrm>
            <a:off x="4713732" y="5440680"/>
            <a:ext cx="2029968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remove groups/licences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icon car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4286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9326880" y="2011680"/>
            <a:ext cx="1371600" cy="137160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pic>
        <p:nvPicPr>
          <p:cNvPr id="18" name="FiUserMinu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0" y="2354580"/>
            <a:ext cx="685800" cy="6858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9536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Offboarding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953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E8"/>
                </a:solidFill>
              </a:rPr>
              <a:t>People, learning, console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Rating and learning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Employees rate the help; ratings land on the dashboard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Agents and the Supervisor propose SOP drafts and short lessons from real tickets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Every lesson passes an automatic safety check and an admin; core SOPs never change by themselves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A lesson that used tools above its level was rejected with the reason recorded; a "disk nearly full" SOP draft awaits review.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Muse Wonder"/>
          <p:cNvSpPr txBox="1"/>
          <p:nvPr/>
        </p:nvSpPr>
        <p:spPr>
          <a:xfrm>
            <a:off x="1755648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Wonder</a:t>
            </a:r>
            <a:endParaRPr lang="en-US" sz="1100" dirty="0"/>
          </a:p>
        </p:txBody>
      </p:sp>
      <p:sp>
        <p:nvSpPr>
          <p:cNvPr id="13" name="chip record_rating"/>
          <p:cNvSpPr txBox="1"/>
          <p:nvPr/>
        </p:nvSpPr>
        <p:spPr>
          <a:xfrm>
            <a:off x="3040380" y="544068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record_rating</a:t>
            </a:r>
            <a:endParaRPr lang="en-US" sz="1100" dirty="0"/>
          </a:p>
        </p:txBody>
      </p:sp>
      <p:sp>
        <p:nvSpPr>
          <p:cNvPr id="14" name="chip propose lesson"/>
          <p:cNvSpPr txBox="1"/>
          <p:nvPr/>
        </p:nvSpPr>
        <p:spPr>
          <a:xfrm>
            <a:off x="4480560" y="54406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propose lesson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6" name="frame"/>
          <p:cNvSpPr/>
          <p:nvPr/>
        </p:nvSpPr>
        <p:spPr>
          <a:xfrm>
            <a:off x="6510528" y="1252728"/>
            <a:ext cx="5266944" cy="2037153"/>
          </a:xfrm>
          <a:prstGeom prst="roundRect">
            <a:avLst>
              <a:gd name="adj" fmla="val 5386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knowledge → lessons learned · rejected" descr="knowledge → lessons learned · rej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1890849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583680" y="3326457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knowledge → lessons learned · rejected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number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F6FFF"/>
          </a:solidFill>
          <a:ln w="12700">
            <a:solidFill>
              <a:srgbClr val="1F6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371600" y="3657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Desk console</a:t>
            </a:r>
            <a:endParaRPr lang="en-US" sz="3000" dirty="0"/>
          </a:p>
        </p:txBody>
      </p:sp>
      <p:sp>
        <p:nvSpPr>
          <p:cNvPr id="5" name="chip REAL ON THE LIVE DESK"/>
          <p:cNvSpPr txBox="1"/>
          <p:nvPr/>
        </p:nvSpPr>
        <p:spPr>
          <a:xfrm>
            <a:off x="9966960" y="57607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FA4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REAL ON THE LIVE DESK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</a:rPr>
              <a:t>What happens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Dashboard: tiers, handoffs, SLA, satisfaction; tickets with the full tool trail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Knowledge base with drafts and lessons; AI usage per call, tool failure rates by tier, CSV export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Audit log and settings: connectors, Supervisor, channels, e-mail, models</a:t>
            </a:r>
            <a:endParaRPr lang="en-US" sz="1350" dirty="0"/>
          </a:p>
        </p:txBody>
      </p:sp>
      <p:sp>
        <p:nvSpPr>
          <p:cNvPr id="8" name="real card"/>
          <p:cNvSpPr/>
          <p:nvPr/>
        </p:nvSpPr>
        <p:spPr>
          <a:xfrm>
            <a:off x="548640" y="3886200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0050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463"/>
                </a:solidFill>
              </a:rPr>
              <a:t>Proof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433"/>
                </a:solidFill>
              </a:rPr>
              <a:t>cloudrium.com: 48 tickets, 431 model calls accounted, every setting changed from the console (keys encrypted in its vault).</a:t>
            </a:r>
            <a:endParaRPr lang="en-US" sz="1300" dirty="0"/>
          </a:p>
        </p:txBody>
      </p:sp>
      <p:sp>
        <p:nvSpPr>
          <p:cNvPr id="11" name="chip Muse Spark"/>
          <p:cNvSpPr txBox="1"/>
          <p:nvPr/>
        </p:nvSpPr>
        <p:spPr>
          <a:xfrm>
            <a:off x="548640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Spark</a:t>
            </a:r>
            <a:endParaRPr lang="en-US" sz="1100" dirty="0"/>
          </a:p>
        </p:txBody>
      </p:sp>
      <p:sp>
        <p:nvSpPr>
          <p:cNvPr id="12" name="chip Muse Wonder"/>
          <p:cNvSpPr txBox="1"/>
          <p:nvPr/>
        </p:nvSpPr>
        <p:spPr>
          <a:xfrm>
            <a:off x="1755648" y="544068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15213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Muse Wonder</a:t>
            </a:r>
            <a:endParaRPr lang="en-US" sz="1100" dirty="0"/>
          </a:p>
        </p:txBody>
      </p:sp>
      <p:sp>
        <p:nvSpPr>
          <p:cNvPr id="13" name="chip /"/>
          <p:cNvSpPr txBox="1"/>
          <p:nvPr/>
        </p:nvSpPr>
        <p:spPr>
          <a:xfrm>
            <a:off x="304038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/</a:t>
            </a:r>
            <a:endParaRPr lang="en-US" sz="1100" dirty="0"/>
          </a:p>
        </p:txBody>
      </p:sp>
      <p:sp>
        <p:nvSpPr>
          <p:cNvPr id="14" name="chip /tickets"/>
          <p:cNvSpPr txBox="1"/>
          <p:nvPr/>
        </p:nvSpPr>
        <p:spPr>
          <a:xfrm>
            <a:off x="3973068" y="544068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/tickets</a:t>
            </a:r>
            <a:endParaRPr lang="en-US" sz="1100" dirty="0"/>
          </a:p>
        </p:txBody>
      </p:sp>
      <p:sp>
        <p:nvSpPr>
          <p:cNvPr id="15" name="chip /knowledge"/>
          <p:cNvSpPr txBox="1"/>
          <p:nvPr/>
        </p:nvSpPr>
        <p:spPr>
          <a:xfrm>
            <a:off x="5024628" y="54406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DDE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433"/>
                </a:solidFill>
              </a:rPr>
              <a:t>/knowledge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33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models · tools and scripts</a:t>
            </a:r>
            <a:endParaRPr lang="en-US" sz="1000" dirty="0"/>
          </a:p>
        </p:txBody>
      </p:sp>
      <p:sp>
        <p:nvSpPr>
          <p:cNvPr id="17" name="frame"/>
          <p:cNvSpPr/>
          <p:nvPr/>
        </p:nvSpPr>
        <p:spPr>
          <a:xfrm>
            <a:off x="6510528" y="1252728"/>
            <a:ext cx="5266944" cy="3026664"/>
          </a:xfrm>
          <a:prstGeom prst="roundRect">
            <a:avLst>
              <a:gd name="adj" fmla="val 3625"/>
            </a:avLst>
          </a:prstGeom>
          <a:solidFill>
            <a:srgbClr val="1C2433"/>
          </a:solidFill>
          <a:ln w="12700">
            <a:solidFill>
              <a:srgbClr val="1C24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dashboard · live" descr="dashboard · l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28803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58368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dashboard · live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Meta models, four jobs</a:t>
            </a:r>
            <a:endParaRPr lang="en-US" sz="3000" dirty="0"/>
          </a:p>
        </p:txBody>
      </p:sp>
      <p:sp>
        <p:nvSpPr>
          <p:cNvPr id="3" name="Muse Spark 1.3"/>
          <p:cNvSpPr/>
          <p:nvPr/>
        </p:nvSpPr>
        <p:spPr>
          <a:xfrm>
            <a:off x="731520" y="13716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Muse Spark 1.3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20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D3DE"/>
                </a:solidFill>
              </a:rPr>
              <a:t>every tier agent: reasoning, tool calls, dialogue, vision</a:t>
            </a:r>
            <a:endParaRPr lang="en-US" sz="1150" dirty="0"/>
          </a:p>
        </p:txBody>
      </p:sp>
      <p:sp>
        <p:nvSpPr>
          <p:cNvPr id="6" name="Muse Wonder 1.0"/>
          <p:cNvSpPr/>
          <p:nvPr/>
        </p:nvSpPr>
        <p:spPr>
          <a:xfrm>
            <a:off x="3474720" y="13716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Muse Wonder 1.0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920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D3DE"/>
                </a:solidFill>
              </a:rPr>
              <a:t>the Supervisor, change planning with rollback, reports</a:t>
            </a:r>
            <a:endParaRPr lang="en-US" sz="1150" dirty="0"/>
          </a:p>
        </p:txBody>
      </p:sp>
      <p:sp>
        <p:nvSpPr>
          <p:cNvPr id="9" name="Voice Transcribe"/>
          <p:cNvSpPr/>
          <p:nvPr/>
        </p:nvSpPr>
        <p:spPr>
          <a:xfrm>
            <a:off x="6217920" y="13716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Voice Transcribe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20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D3DE"/>
                </a:solidFill>
              </a:rPr>
              <a:t>WhatsApp voice notes become tickets</a:t>
            </a:r>
            <a:endParaRPr lang="en-US" sz="1150" dirty="0"/>
          </a:p>
        </p:txBody>
      </p:sp>
      <p:sp>
        <p:nvSpPr>
          <p:cNvPr id="12" name="SAM 3.1"/>
          <p:cNvSpPr/>
          <p:nvPr/>
        </p:nvSpPr>
        <p:spPr>
          <a:xfrm>
            <a:off x="8961120" y="13716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5213F"/>
          </a:solidFill>
          <a:ln w="12700">
            <a:solidFill>
              <a:srgbClr val="1521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SAM 3.1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920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D3DE"/>
                </a:solidFill>
              </a:rPr>
              <a:t>locates objects in camera frames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108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two minutes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5760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5E9F0"/>
                </a:solidFill>
              </a:rPr>
              <a:t>Open cloudrium.com/support-agent and type your mobile number or e-mail; the desk sends a one-time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5E9F0"/>
                </a:solidFill>
              </a:rPr>
              <a:t>You are not in the directory, so give the invitation code from the submission notes and your name: an account is created in Entra ID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5E9F0"/>
                </a:solidFill>
              </a:rPr>
              <a:t>Then write as an employee: "My VPN shows a certificate error", "I forgot my password", "I need a licence for Visio"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5E9F0"/>
                </a:solidFill>
              </a:rPr>
              <a:t>WhatsApp works the same way, voice notes included; every tool call and decision is visible in the ticket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github.com/gokhunyayla/muse-servicedesk · youtu.be/rMqozO4E0ng · Gökhun Yayla</a:t>
            </a:r>
            <a:endParaRPr lang="en-US" sz="13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se ServiceDesk">
  <a:themeElements>
    <a:clrScheme name="Muse ServiceDesk">
      <a:dk1>
        <a:srgbClr val="0E1014"/>
      </a:dk1>
      <a:lt1>
        <a:srgbClr val="FFFFFF"/>
      </a:lt1>
      <a:dk2>
        <a:srgbClr val="1C2433"/>
      </a:dk2>
      <a:lt2>
        <a:srgbClr val="F3F5F9"/>
      </a:lt2>
      <a:accent1>
        <a:srgbClr val="1F6FFF"/>
      </a:accent1>
      <a:accent2>
        <a:srgbClr val="1FA463"/>
      </a:accent2>
      <a:accent3>
        <a:srgbClr val="E0A020"/>
      </a:accent3>
      <a:accent4>
        <a:srgbClr val="E03A4A"/>
      </a:accent4>
      <a:accent5>
        <a:srgbClr val="6B7280"/>
      </a:accent5>
      <a:accent6>
        <a:srgbClr val="15213F"/>
      </a:accent6>
      <a:hlink>
        <a:srgbClr val="1F6FFF"/>
      </a:hlink>
      <a:folHlink>
        <a:srgbClr val="6B7280"/>
      </a:folHlink>
    </a:clrScheme>
    <a:fontScheme name="Muse ServiceDes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Muse ServiceDesk — the 17 cases</dc:title>
  <dc:subject>PptxGenJS Presentation</dc:subject>
  <dc:creator>Gökhun Yayla</dc:creator>
  <cp:lastModifiedBy>Gökhun Yayla</cp:lastModifiedBy>
  <cp:revision>1</cp:revision>
  <dcterms:created xsi:type="dcterms:W3CDTF">2026-10-30T21:00:54Z</dcterms:created>
  <dcterms:modified xsi:type="dcterms:W3CDTF">2026-10-30T21:00:54Z</dcterms:modified>
</cp:coreProperties>
</file>